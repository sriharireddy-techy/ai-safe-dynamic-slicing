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329184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93C5FD"/>
                </a:solidFill>
                <a:latin typeface="Calibri"/>
              </a:defRPr>
            </a:pPr>
            <a:r>
              <a:t>❖  CSE3002 • COMPUTER NETWORKS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548640"/>
            <a:ext cx="246888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38BDF8"/>
                </a:solidFill>
                <a:latin typeface="Calibri"/>
              </a:defRPr>
            </a:pPr>
            <a:r>
              <a:t>REVIEW - 2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AI-Driven Safe Dynamic Network Slicing for</a:t>
            </a:r>
            <a:br/>
            <a:r>
              <a:t>SLA-Preserving SDN Networks</a:t>
            </a:r>
          </a:p>
          <a:p>
            <a:pPr>
              <a:spcAft>
                <a:spcPts val="20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Safety-Constrained Contextual Bandits (SRA-LinUCB) &amp; Deterministic Guardrails in OpenFlow SDN</a:t>
            </a:r>
          </a:p>
          <a:p>
            <a:pPr>
              <a:defRPr sz="1200" b="1">
                <a:solidFill>
                  <a:srgbClr val="34D399"/>
                </a:solidFill>
                <a:latin typeface="Calibri"/>
              </a:defRPr>
            </a:pPr>
            <a:r>
              <a:t>Verified Implementation: Modules 2–6 Implemented  |  83 / 83 Automated Tests Passed (100%)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TEAM MEMBERS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Member 1 (21BCSE001)  •  Member 2 (21BCSE002)  •  Member 3 (21BCSE003)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3035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PROJECT GUIDE</a:t>
            </a:r>
          </a:p>
          <a:p>
            <a:pPr algn="r">
              <a:defRPr sz="1200" b="1">
                <a:solidFill>
                  <a:srgbClr val="60A5FA"/>
                </a:solidFill>
                <a:latin typeface="Calibri"/>
              </a:defRPr>
            </a:pPr>
            <a:r>
              <a:t>Prof. [Faculty 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EVALUATION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Review-2 Progress 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8716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645920" cy="274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2563EB"/>
                </a:solidFill>
                <a:latin typeface="Calibri"/>
              </a:defRPr>
            </a:pPr>
            <a:r>
              <a:t>100%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2140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1. Architecture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SDN Topology &amp; Modeling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2-switch, 6-host Mininet testbed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10 Mbps bottleneck with 5 ms delay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URLLC, eMBB &amp; Best-Effort slice SLAs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Baseline congestion quantification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212140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Calibri"/>
              </a:defRPr>
            </a:pPr>
            <a:r>
              <a:t>FOUNDATION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48716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691640"/>
            <a:ext cx="1645920" cy="27432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7C3AED"/>
                </a:solidFill>
                <a:latin typeface="Calibri"/>
              </a:defRPr>
            </a:pPr>
            <a:r>
              <a:t>REVIEW-2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03120"/>
            <a:ext cx="212140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2. Implementation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M2–M6 Core Pipeline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M2: Telemetry collector (active/passive/tc)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M3: 6D context builder &amp; feature scaling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M4: SRA-LinUCB contextual bandit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M5: Security profiling &amp; overhead model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M6: Deterministic SLA safety guardrail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394960"/>
            <a:ext cx="212140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Calibri"/>
              </a:defRPr>
            </a:pPr>
            <a:r>
              <a:t>MODULES 2–6 IMPLEMENTED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48716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691640"/>
            <a:ext cx="1645920" cy="274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16A34A"/>
                </a:solidFill>
                <a:latin typeface="Calibri"/>
              </a:defRPr>
            </a:pPr>
            <a:r>
              <a:t>83 / 83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212140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3. Initial Testing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Automated Test Suite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15 Telemetry &amp; socket parsing tests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17 Context normalization unit tests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11 LinUCB ridge solver &amp; risk tests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13 Security metrics &amp; WireGuard tests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27 Cross-module integration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394960"/>
            <a:ext cx="212140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16A34A"/>
                </a:solidFill>
                <a:latin typeface="Calibri"/>
              </a:defRPr>
            </a:pPr>
            <a:r>
              <a:t>100% TEST PASS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463040"/>
            <a:ext cx="248716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1691640"/>
            <a:ext cx="1645920" cy="27432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D97706"/>
                </a:solidFill>
                <a:latin typeface="Calibri"/>
              </a:defRPr>
            </a:pPr>
            <a:r>
              <a:t>PLANNED (R3)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12140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4. Pending Goals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Review 3 Target Scope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M7: Ryu dynamic meter/queue actuation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M8: Closed-loop reward engine feedback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M9: Mininet comparative benchmarks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Real-time Streamlit telemetry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394960"/>
            <a:ext cx="212140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D97706"/>
                </a:solidFill>
                <a:latin typeface="Calibri"/>
              </a:defRPr>
            </a:pPr>
            <a:r>
              <a:t>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PROJECT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Problem Statement &amp;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9728" cy="4480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4663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DC2626"/>
                </a:solidFill>
                <a:latin typeface="Calibri"/>
              </a:defRPr>
            </a:pPr>
            <a:r>
              <a:t>⚠  Problem Statement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Bufferbloat &amp; Queuing Contention: </a:t>
            </a:r>
            <a:r>
              <a:rPr sz="1050" b="0">
                <a:solidFill>
                  <a:srgbClr val="334155"/>
                </a:solidFill>
                <a:latin typeface="Calibri"/>
              </a:rPr>
              <a:t>High-bandwidth multimedia traffic (eMBB) saturates shared bottleneck queues, causing massive bufferbloat and packet drops for co-existing traffic.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Critical Latency SLA Violations: </a:t>
            </a:r>
            <a:r>
              <a:rPr sz="1050" b="0">
                <a:solidFill>
                  <a:srgbClr val="334155"/>
                </a:solidFill>
                <a:latin typeface="Calibri"/>
              </a:rPr>
              <a:t>In our empirical Mininet baseline, unregulated 9 Mbps eMBB bursts spike URLLC latency from 10.15 ms to 29.88 ms average (122.44 ms peak), severely breaching the 15.0 ms SLA threshold.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Unsafe AI Autonomous Control: </a:t>
            </a:r>
            <a:r>
              <a:rPr sz="1050" b="0">
                <a:solidFill>
                  <a:srgbClr val="334155"/>
                </a:solidFill>
                <a:latin typeface="Calibri"/>
              </a:rPr>
              <a:t>Standard Reinforcement Learning and Bandits explore randomly without physical boundary awareness, risking catastrophic SLA breaches during live policy exploration.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109728" cy="44805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663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6A34A"/>
                </a:solidFill>
                <a:latin typeface="Calibri"/>
              </a:defRPr>
            </a:pPr>
            <a:r>
              <a:t>🎯  Core Objectives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Multi-Metric Telemetry &amp; 6D Context: </a:t>
            </a:r>
            <a:r>
              <a:rPr sz="1050" b="0">
                <a:solidFill>
                  <a:srgbClr val="334155"/>
                </a:solidFill>
                <a:latin typeface="Calibri"/>
              </a:rPr>
              <a:t>Design a non-intrusive collector for active RTT, interface bytes, and tc queue depth, mapping raw state into a bounded 6D context vector x_t in R^6.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Risk-Aware Bandwidth Optimization: </a:t>
            </a:r>
            <a:r>
              <a:rPr sz="1050" b="0">
                <a:solidFill>
                  <a:srgbClr val="334155"/>
                </a:solidFill>
                <a:latin typeface="Calibri"/>
              </a:rPr>
              <a:t>Formulate a Security- and Risk-Aware LinUCB (SRA-LinUCB) contextual bandit that dynamically balances throughput while penalizing risky congestion actions.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Deterministic Safety Guardrail: </a:t>
            </a:r>
            <a:r>
              <a:rPr sz="1050" b="0">
                <a:solidFill>
                  <a:srgbClr val="334155"/>
                </a:solidFill>
                <a:latin typeface="Calibri"/>
              </a:rPr>
              <a:t>Implement an independent deterministic safety verifier that intercepts AI decisions, strictly validating capacity, latency, loss, and crypto overhead before SDN actuation.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DESIGN &amp;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Network Architecture &amp; Layering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12801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5669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Calibri"/>
              </a:defRPr>
            </a:pPr>
            <a:r>
              <a:t>APPLICATION &amp; AI SAFETY LAYER  [IMPLEMENTED - M2–M6]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M2 Telemetry Collector  →  M3 6D Context Builder  →  M4 SRA-LinUCB Engine</a:t>
            </a:r>
            <a:br/>
            <a:r>
              <a:t>• M5 Security &amp; Overhead Model  →  M6 Deterministic SLA/Security Guardrail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816352"/>
            <a:ext cx="2194560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64748B"/>
                </a:solidFill>
                <a:latin typeface="Calibri"/>
              </a:defRPr>
            </a:pPr>
            <a:r>
              <a:t>↕  Internal Control &amp; Action 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27248"/>
            <a:ext cx="6217920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475569"/>
                </a:solidFill>
                <a:latin typeface="Calibri"/>
              </a:defRPr>
            </a:pPr>
            <a:r>
              <a:t>SDN CONTROL LAYER  [PLANNED FUTURE WORK - MODULE 07]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Ryu OpenFlow 1.3 Controller (TCP Port 6633) — Base L2 learning switch active</a:t>
            </a:r>
            <a:br/>
            <a:r>
              <a:t>• Planned Actuator: OFP Meter Bands &amp; Linux HTB QoS queues for dynamic rate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4389120"/>
            <a:ext cx="2560320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64748B"/>
                </a:solidFill>
                <a:latin typeface="Calibri"/>
              </a:defRPr>
            </a:pPr>
            <a:r>
              <a:t>↕  Southbound Interface (OpenFlow 1.3)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09160"/>
            <a:ext cx="6217920" cy="12344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28032"/>
            <a:ext cx="5669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D97706"/>
                </a:solidFill>
                <a:latin typeface="Calibri"/>
              </a:defRPr>
            </a:pPr>
            <a:r>
              <a:t>DATA PLANE LAYER  [EMULATED TESTBED - MODULE 01]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2 Open vSwitches (S1, S2) linked by 10 Mbps bottleneck (5 ms delay, 50 pkt buffer)</a:t>
            </a:r>
            <a:br/>
            <a:r>
              <a:t>• 6 End hosts partitioned across URLLC (H1-H4), eMBB (H2-H5), Best-Effort (H3-H6)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463040"/>
            <a:ext cx="423641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600200"/>
            <a:ext cx="3779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Logical Slice Partitioning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  <a:latin typeface="Calibri"/>
              </a:defRPr>
            </a:pPr>
            <a:r>
              <a:t>• URLLC: </a:t>
            </a:r>
            <a:r>
              <a:rPr sz="950" b="0">
                <a:solidFill>
                  <a:srgbClr val="334155"/>
                </a:solidFill>
                <a:latin typeface="Calibri"/>
              </a:rPr>
              <a:t>Latency &lt;= 15.0 ms, Loss &lt;= 1.0%, Min BW &gt;= 2.0 Mbps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  <a:latin typeface="Calibri"/>
              </a:defRPr>
            </a:pPr>
            <a:r>
              <a:t>• eMBB: </a:t>
            </a:r>
            <a:r>
              <a:rPr sz="950" b="0">
                <a:solidFill>
                  <a:srgbClr val="334155"/>
                </a:solidFill>
                <a:latin typeface="Calibri"/>
              </a:rPr>
              <a:t>High-throughput multimedia burst (dynamic allocation)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  <a:latin typeface="Calibri"/>
              </a:defRPr>
            </a:pPr>
            <a:r>
              <a:t>• Best-Effort: </a:t>
            </a:r>
            <a:r>
              <a:rPr sz="950" b="0">
                <a:solidFill>
                  <a:srgbClr val="334155"/>
                </a:solidFill>
                <a:latin typeface="Calibri"/>
              </a:rPr>
              <a:t>Background web traffic (elastic residual rate)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127248"/>
            <a:ext cx="423641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3264408"/>
            <a:ext cx="3779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Safety-First Design Principle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  <a:latin typeface="Calibri"/>
              </a:defRPr>
            </a:pPr>
            <a:r>
              <a:t>• AI Proposes: </a:t>
            </a:r>
            <a:r>
              <a:rPr sz="950" b="0">
                <a:solidFill>
                  <a:srgbClr val="334155"/>
                </a:solidFill>
                <a:latin typeface="Calibri"/>
              </a:rPr>
              <a:t>SRA-LinUCB explores optimal slice bandwidths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  <a:latin typeface="Calibri"/>
              </a:defRPr>
            </a:pPr>
            <a:r>
              <a:t>• Guardrail Validates: </a:t>
            </a:r>
            <a:r>
              <a:rPr sz="950" b="0">
                <a:solidFill>
                  <a:srgbClr val="334155"/>
                </a:solidFill>
                <a:latin typeface="Calibri"/>
              </a:rPr>
              <a:t>Deterministic safety checks against raw telemetry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  <a:latin typeface="Calibri"/>
              </a:defRPr>
            </a:pPr>
            <a:r>
              <a:t>• Fail-Safe: </a:t>
            </a:r>
            <a:r>
              <a:rPr sz="950" b="0">
                <a:solidFill>
                  <a:srgbClr val="334155"/>
                </a:solidFill>
                <a:latin typeface="Calibri"/>
              </a:rPr>
              <a:t>Unsafe actions blocked or repaired; SLAs guaranteed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4709160"/>
            <a:ext cx="423641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4846320"/>
            <a:ext cx="3779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Control &amp; Actuation Logic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  <a:latin typeface="Calibri"/>
              </a:defRPr>
            </a:pPr>
            <a:r>
              <a:t>• Observation: </a:t>
            </a:r>
            <a:r>
              <a:rPr sz="950" b="0">
                <a:solidFill>
                  <a:srgbClr val="334155"/>
                </a:solidFill>
                <a:latin typeface="Calibri"/>
              </a:rPr>
              <a:t>Non-intrusive active probing + /sys + tc stats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  <a:latin typeface="Calibri"/>
              </a:defRPr>
            </a:pPr>
            <a:r>
              <a:t>• AI Inference: </a:t>
            </a:r>
            <a:r>
              <a:rPr sz="950" b="0">
                <a:solidFill>
                  <a:srgbClr val="334155"/>
                </a:solidFill>
                <a:latin typeface="Calibri"/>
              </a:rPr>
              <a:t>Ridge regression contextual bandit with risk penalty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  <a:latin typeface="Calibri"/>
              </a:defRPr>
            </a:pPr>
            <a:r>
              <a:t>• Actuation: </a:t>
            </a:r>
            <a:r>
              <a:rPr sz="950" b="0">
                <a:solidFill>
                  <a:srgbClr val="334155"/>
                </a:solidFill>
                <a:latin typeface="Calibri"/>
              </a:rPr>
              <a:t>Only guardrail-certified actions reach OpenFlow meters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ENVIRONMENT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Implementation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8716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5486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2140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Mininet &amp; OVS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Data Plane Emulation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Mininet 2.3.0 virtual testbed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Open vSwitch 3.3.9 software switches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Linux network namespaces (`mnexec`)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Linux `tc` HTB bottleneck shaping (10 Mbps, 5 ms delay, 50 pkts buffer)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48716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737360"/>
            <a:ext cx="5486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68880"/>
            <a:ext cx="212140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Python 3.11 &amp; NumPy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Core Scientific &amp; AI Logic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Python 3.11 for AI, telemetry &amp; tests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NumPy vector &amp; matrix computations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Stable `np.linalg.solve(A_a, b_a)` ridge solver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Dataclasses for zero-overhead contracts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48716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5486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212140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Linux tc &amp; WireGuard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Kernel Telemetry &amp; Security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`/sys/class/net` passive byte counters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`tc -s qdisc` egress queue backlog parser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WireGuard crypto state &amp; latency model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Overhead profiling (latency &amp; throughput)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48716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0" y="1737360"/>
            <a:ext cx="548640" cy="5486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468880"/>
            <a:ext cx="2121408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Pytest Test Suite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Automated Verification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Comprehensive automated test runner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83 / 83 unit &amp; integration tests passing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Regression verification across edge cases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Deterministic SLA validation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Implementation Progress (Review-2)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206240"/>
                <a:gridCol w="1645920"/>
                <a:gridCol w="2011680"/>
                <a:gridCol w="1493215"/>
              </a:tblGrid>
              <a:tr h="438912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 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 Description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 Target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MOD-01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SDN Network Topology &amp; Bottleneck Testbed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Review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MOD-02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Network Telemetry Collector (Active/Passive/Queue)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Review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Completed (15 Tests)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MOD-03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Context Builder &amp; 6D Feature 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Review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Completed (17 Tests)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MOD-04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SRA-LinUCB Decision Engine (Contextual Bandit)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Review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Completed (11 Tests)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MOD-05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Security State &amp; Crypto Overhead Profiling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Review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Completed (13 Tests)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MOD-06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Deterministic SLA &amp; Security Guardrail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Review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Completed (14 Tests)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MOD-07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Ryu OpenFlow Dynamic Slicing Actuation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Review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Planned / Future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MOD-08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Closed-Loop Reward Engine &amp; Online Feedback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Review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Planned / Future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MOD-09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Comprehensive Evaluation &amp; Live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Review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Planned / Future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6035040"/>
            <a:ext cx="10728655" cy="32004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16A34A"/>
                </a:solidFill>
                <a:latin typeface="Calibri"/>
              </a:defRPr>
            </a:pPr>
            <a:r>
              <a:t>✔  Review-2 Milestone Status: All target core modules (M2–M6) fully implemented with 83/83 unit &amp; integration tests passing.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Experimental Testbed Setup &amp; Baseline Starvation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87168" cy="13716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1284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Calibri"/>
              </a:defRPr>
            </a:pPr>
            <a:r>
              <a:t>6</a:t>
            </a:r>
          </a:p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Simulated Hosts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3 isolated slice pairs (H1..H6)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87168" cy="137160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00200"/>
            <a:ext cx="221284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Calibri"/>
              </a:defRPr>
            </a:pPr>
            <a:r>
              <a:t>2</a:t>
            </a:r>
          </a:p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Open vSwitches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S1 &amp; S2 via OpenFlow 1.3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87168" cy="137160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221284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D97706"/>
                </a:solidFill>
                <a:latin typeface="Calibri"/>
              </a:defRPr>
            </a:pPr>
            <a:r>
              <a:t>10 Mbps</a:t>
            </a:r>
          </a:p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Bottleneck Link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Delay: 5 ms | tc Buffer: 50 pkts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87168" cy="13716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600200"/>
            <a:ext cx="221284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DC2626"/>
                </a:solidFill>
                <a:latin typeface="Calibri"/>
              </a:defRPr>
            </a:pPr>
            <a:r>
              <a:t>15.0 ms</a:t>
            </a:r>
          </a:p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URLLC Latency SLA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Strict maximum latency budget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5212080" cy="3154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246120"/>
            <a:ext cx="2926080" cy="274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16A34A"/>
                </a:solidFill>
                <a:latin typeface="Calibri"/>
              </a:defRPr>
            </a:pPr>
            <a:r>
              <a:t>BASELINE 1: NORMAL TRAFFIC (URLLC ALONE)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484632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Traffic Profile: </a:t>
            </a:r>
            <a:r>
              <a:rPr sz="1000" b="0">
                <a:solidFill>
                  <a:srgbClr val="334155"/>
                </a:solidFill>
                <a:latin typeface="Calibri"/>
              </a:rPr>
              <a:t>URLLC telemetry ping probes (H1 → H4) every 200 ms with no background contention.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Measured Latency: </a:t>
            </a:r>
            <a:r>
              <a:rPr sz="1000" b="0">
                <a:solidFill>
                  <a:srgbClr val="334155"/>
                </a:solidFill>
                <a:latin typeface="Calibri"/>
              </a:rPr>
              <a:t>Min = 10.09 ms  |  Avg = 10.15 ms  |  Max = 11.20 ms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Measured Packet Loss: </a:t>
            </a:r>
            <a:r>
              <a:rPr sz="1000" b="0">
                <a:solidFill>
                  <a:srgbClr val="334155"/>
                </a:solidFill>
                <a:latin typeface="Calibri"/>
              </a:rPr>
              <a:t>0.0% packet drop rate across 100 consecutive probing cycles.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SLA Status: </a:t>
            </a:r>
            <a:r>
              <a:rPr sz="1000" b="0">
                <a:solidFill>
                  <a:srgbClr val="334155"/>
                </a:solidFill>
                <a:latin typeface="Calibri"/>
              </a:rPr>
              <a:t>✔ SAFE — Comfortably satisfies strict &lt;= 15.0 ms URLLC latency requirement.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63240"/>
            <a:ext cx="5212080" cy="3154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3246120"/>
            <a:ext cx="3291840" cy="27432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DC2626"/>
                </a:solidFill>
                <a:latin typeface="Calibri"/>
              </a:defRPr>
            </a:pPr>
            <a:r>
              <a:t>BASELINE 2: UNREGULATED eMBB CONTENTION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484632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Traffic Profile: </a:t>
            </a:r>
            <a:r>
              <a:rPr sz="1000" b="0">
                <a:solidFill>
                  <a:srgbClr val="334155"/>
                </a:solidFill>
                <a:latin typeface="Calibri"/>
              </a:rPr>
              <a:t>Concurrent 9.0 Mbps iperf3 UDP/TCP stream (H2 → H5) competing on 10 Mbps bottleneck.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Measured Latency: </a:t>
            </a:r>
            <a:r>
              <a:rPr sz="1000" b="0">
                <a:solidFill>
                  <a:srgbClr val="334155"/>
                </a:solidFill>
                <a:latin typeface="Calibri"/>
              </a:rPr>
              <a:t>Min = 10.09 ms  |  Avg = 29.88 ms  |  Max = 122.44 ms (Bufferbloat Spike)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Queuing Impact: </a:t>
            </a:r>
            <a:r>
              <a:rPr sz="1000" b="0">
                <a:solidFill>
                  <a:srgbClr val="334155"/>
                </a:solidFill>
                <a:latin typeface="Calibri"/>
              </a:rPr>
              <a:t>Switch egress buffer saturates at 50 packets limit; latency nearly triples.</a:t>
            </a:r>
          </a:p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SLA Status: </a:t>
            </a:r>
            <a:r>
              <a:rPr sz="1000" b="0">
                <a:solidFill>
                  <a:srgbClr val="334155"/>
                </a:solidFill>
                <a:latin typeface="Calibri"/>
              </a:rPr>
              <a:t>✖ CRITICAL SLA VIOLATION — Exceeds 15.0 ms threshold by up to 8x without dynamic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DATA PIPELINE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Telemetry Collection &amp; 6D Context Builder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2926080" cy="274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2563EB"/>
                </a:solidFill>
                <a:latin typeface="Calibri"/>
              </a:defRPr>
            </a:pPr>
            <a:r>
              <a:t>MODULE 02: NETWORK TELEMETRY COLLECTOR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• Active Latency &amp; Loss Probing: </a:t>
            </a:r>
            <a:r>
              <a:rPr sz="980" b="0">
                <a:solidFill>
                  <a:srgbClr val="334155"/>
                </a:solidFill>
                <a:latin typeface="Calibri"/>
              </a:rPr>
              <a:t>Executes `mnexec` ping directly within host H1's network namespace targeting H4 every 200 ms, completely eliminating host-isolation virtualization skew.</a:t>
            </a:r>
          </a:p>
          <a:p>
            <a:pPr>
              <a:spcAft>
                <a:spcPts val="7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• Passive Interface Throughput: </a:t>
            </a:r>
            <a:r>
              <a:rPr sz="980" b="0">
                <a:solidFill>
                  <a:srgbClr val="334155"/>
                </a:solidFill>
                <a:latin typeface="Calibri"/>
              </a:rPr>
              <a:t>Reads kernel byte counters asynchronously from `/sys/class/net/s1-eth4/statistics/rx_bytes`, computing differential Mbps rates without injecting probe traffic.</a:t>
            </a:r>
          </a:p>
          <a:p>
            <a:pPr>
              <a:spcAft>
                <a:spcPts val="7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• Queue Backlog Inspection: </a:t>
            </a:r>
            <a:r>
              <a:rPr sz="980" b="0">
                <a:solidFill>
                  <a:srgbClr val="334155"/>
                </a:solidFill>
                <a:latin typeface="Calibri"/>
              </a:rPr>
              <a:t>Parses Linux `tc -s qdisc show dev s1-eth4` to track exact switch egress packet queue backlog depth in real time.</a:t>
            </a:r>
          </a:p>
          <a:p>
            <a:pPr>
              <a:spcAft>
                <a:spcPts val="7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• Defensive Sentinel Sanitization: </a:t>
            </a:r>
            <a:r>
              <a:rPr sz="980" b="0">
                <a:solidFill>
                  <a:srgbClr val="334155"/>
                </a:solidFill>
                <a:latin typeface="Calibri"/>
              </a:rPr>
              <a:t>Returns defensive sentinels (-1.0 ms latency, 100.0% loss) on timeout drops, guaranteeing continuous monitoring without daemon crashes.</a:t>
            </a:r>
          </a:p>
          <a:p>
            <a:pPr>
              <a:spcAft>
                <a:spcPts val="7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• Testing &amp; Verification: </a:t>
            </a:r>
            <a:r>
              <a:rPr sz="980" b="0">
                <a:solidFill>
                  <a:srgbClr val="334155"/>
                </a:solidFill>
                <a:latin typeface="Calibri"/>
              </a:rPr>
              <a:t>15 / 15 automated unit tests passed covering rate arithmetic, counter resets, socket parsing, and CSV persistence.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2926080" cy="27432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7C3AED"/>
                </a:solidFill>
                <a:latin typeface="Calibri"/>
              </a:defRPr>
            </a:pPr>
            <a:r>
              <a:t>MODULE 03: 6D AI CONTEXT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7C3AED"/>
                </a:solidFill>
                <a:latin typeface="Calibri"/>
              </a:defRPr>
            </a:pPr>
            <a:r>
              <a:t>Fixed 6-Dimensional Feature Vector  x_t ∈ R^6 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423160"/>
            <a:ext cx="484632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457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0">
                <a:solidFill>
                  <a:srgbClr val="0F172A"/>
                </a:solidFill>
                <a:latin typeface="Consolas"/>
              </a:defRPr>
            </a:pPr>
            <a:r>
              <a:t>x_0  =  1.0                                (Bias / Intercept term)</a:t>
            </a:r>
            <a:br/>
            <a:r>
              <a:t>x_1  =  min(1.0, URLLC_Latency / 50.0)      (Normalized Latency)</a:t>
            </a:r>
            <a:br/>
            <a:r>
              <a:t>x_2  =  min(1.0, Throughput / 10.0)         (Normalized Bottleneck Rate)</a:t>
            </a:r>
            <a:br/>
            <a:r>
              <a:t>x_3  =  min(1.0, Queue_Backlog / 50.0)      (Normalized Buffer Depth)</a:t>
            </a:r>
            <a:br/>
            <a:r>
              <a:t>x_4  =  clip((Lat_t - Lat_t-1) / 10.0, -1, 1) (Temporal Latency Trend)</a:t>
            </a:r>
            <a:br/>
            <a:r>
              <a:t>x_5  =  Packet_Loss / 100.0                (Normalized Loss Ratio)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9476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t>• Why Normalization is Vital: </a:t>
            </a:r>
            <a:r>
              <a:rPr sz="950" b="0">
                <a:solidFill>
                  <a:srgbClr val="334155"/>
                </a:solidFill>
                <a:latin typeface="Calibri"/>
              </a:rPr>
              <a:t>Transforms raw telemetry with diverse physical scales (0–120 ms, 0–50 pkts, 0–10 Mbps) into bounded [0, 1] inputs for stable LinUCB ridge regression.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t>• Temporal Trend Feature (x_4): </a:t>
            </a:r>
            <a:r>
              <a:rPr sz="950" b="0">
                <a:solidFill>
                  <a:srgbClr val="334155"/>
                </a:solidFill>
                <a:latin typeface="Calibri"/>
              </a:rPr>
              <a:t>Tracks rate-of-change; alerts the AI before queue overflows occur.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t>• Sentinel Mapping: </a:t>
            </a:r>
            <a:r>
              <a:rPr sz="950" b="0">
                <a:solidFill>
                  <a:srgbClr val="334155"/>
                </a:solidFill>
                <a:latin typeface="Calibri"/>
              </a:rPr>
              <a:t>Maps -1.0 ms sentinel to worst-case x_1 = 1.0; prevents invalid math.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t>• Testing &amp; Verification: </a:t>
            </a:r>
            <a:r>
              <a:rPr sz="950" b="0">
                <a:solidFill>
                  <a:srgbClr val="334155"/>
                </a:solidFill>
                <a:latin typeface="Calibri"/>
              </a:rPr>
              <a:t>17 / 17 automated unit tests passed covering trend clipping, bounds, and sentinels.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AI ALGORITHM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Module 04: SRA-LinUCB Decision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2926080" cy="27432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7C3AED"/>
                </a:solidFill>
                <a:latin typeface="Calibri"/>
              </a:defRPr>
            </a:pPr>
            <a:r>
              <a:t>CONTEXTUAL BANDIT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20624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Contextual Multi-Armed Bandit (d = 6, K = 3)</a:t>
            </a:r>
          </a:p>
          <a:p>
            <a:pPr>
              <a:spcAft>
                <a:spcPts val="120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The AI selects an action based on current network context x_t and learned reward associations, balancing exploitation of known high-throughput states with exploration of new allocations.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Discrete Action Space &amp; Risk Profiles (ρ_a):</a:t>
            </a:r>
          </a:p>
          <a:p>
            <a:pPr>
              <a:spcAft>
                <a:spcPts val="800"/>
              </a:spcAft>
              <a:defRPr sz="1000" b="1">
                <a:solidFill>
                  <a:srgbClr val="7C3AED"/>
                </a:solidFill>
                <a:latin typeface="Calibri"/>
              </a:defRPr>
            </a:pPr>
            <a:r>
              <a:t>Action 0: DECREASE_EMBB  (ρ_0 = -1.0)</a:t>
            </a:r>
            <a:br/>
            <a:r>
              <a:rPr sz="950" b="0">
                <a:solidFill>
                  <a:srgbClr val="334155"/>
                </a:solidFill>
                <a:latin typeface="Calibri"/>
              </a:rPr>
              <a:t>Throttles eMBB; relieves bottleneck queue; de-congesting risk profile.</a:t>
            </a:r>
          </a:p>
          <a:p>
            <a:pPr>
              <a:spcAft>
                <a:spcPts val="800"/>
              </a:spcAft>
              <a:defRPr sz="1000" b="1">
                <a:solidFill>
                  <a:srgbClr val="7C3AED"/>
                </a:solidFill>
                <a:latin typeface="Calibri"/>
              </a:defRPr>
            </a:pPr>
            <a:r>
              <a:t>Action 1: MAINTAIN  (ρ_1 = 0.0)</a:t>
            </a:r>
            <a:br/>
            <a:r>
              <a:rPr sz="950" b="0">
                <a:solidFill>
                  <a:srgbClr val="334155"/>
                </a:solidFill>
                <a:latin typeface="Calibri"/>
              </a:rPr>
              <a:t>Holds current slice bandwidths steady; neutral risk profile.</a:t>
            </a:r>
          </a:p>
          <a:p>
            <a:pPr>
              <a:spcAft>
                <a:spcPts val="800"/>
              </a:spcAft>
              <a:defRPr sz="1000" b="1">
                <a:solidFill>
                  <a:srgbClr val="7C3AED"/>
                </a:solidFill>
                <a:latin typeface="Calibri"/>
              </a:defRPr>
            </a:pPr>
            <a:r>
              <a:t>Action 2: INCREASE_EMBB  (ρ_2 = +1.0)</a:t>
            </a:r>
            <a:br/>
            <a:r>
              <a:rPr sz="950" b="0">
                <a:solidFill>
                  <a:srgbClr val="334155"/>
                </a:solidFill>
                <a:latin typeface="Calibri"/>
              </a:rPr>
              <a:t>Expands eMBB bandwidth; increases congestion risk under high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463040"/>
            <a:ext cx="588233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0" y="1645920"/>
            <a:ext cx="3108960" cy="274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2563EB"/>
                </a:solidFill>
                <a:latin typeface="Calibri"/>
              </a:defRPr>
            </a:pPr>
            <a:r>
              <a:t>MATHEMATICAL FOUNDATIONS &amp; RISK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057400"/>
            <a:ext cx="548640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1. Online Ridge Regression Update (Per Arm a):</a:t>
            </a:r>
          </a:p>
          <a:p>
            <a:br/>
            <a:br/>
            <a:br/>
            <a:br/>
            <a:pPr>
              <a:spcAft>
                <a:spcPts val="4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2. UCB Exploration &amp; Security-Risk Adjustment (SRA):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331720"/>
            <a:ext cx="54864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2377440"/>
            <a:ext cx="52120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0">
                <a:solidFill>
                  <a:srgbClr val="0F172A"/>
                </a:solidFill>
                <a:latin typeface="Consolas"/>
              </a:defRPr>
            </a:pPr>
            <a:r>
              <a:t>A_a  =  I_6 + Σ x_t x_tᵀ  ∈  R^(6x6)      (Precision Matrix)</a:t>
            </a:r>
            <a:br/>
            <a:r>
              <a:t>b_a  =  Σ r_t x_t          ∈  R^6        (Reward-Weighted Context)</a:t>
            </a:r>
            <a:br/>
            <a:r>
              <a:t>θ̂_a  =  A_a⁻¹ b_a        (Solved via np.linalg.solve for numerical stability)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611880"/>
            <a:ext cx="5486400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3657600"/>
            <a:ext cx="521208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80">
                <a:solidFill>
                  <a:srgbClr val="0F172A"/>
                </a:solidFill>
                <a:latin typeface="Consolas"/>
              </a:defRPr>
            </a:pPr>
            <a:r>
              <a:t>UCB_a(x_t)   =  x_tᵀ θ̂_a  +  α √(x_tᵀ A_a⁻¹ x_t)</a:t>
            </a:r>
            <a:br/>
            <a:r>
              <a:t>Context Risk:   R(x_t) = 0.4 x_1 + 0.3 x_3 + 0.2 max(0, x_4) + 0.1 x_5</a:t>
            </a:r>
            <a:br/>
            <a:r>
              <a:t>Final Score:    Score_a(x_t) = UCB_a(x_t)  -  λ · ρ_a · R(x_t)</a:t>
            </a:r>
            <a:br/>
            <a:r>
              <a:t>Candidate:      a* = argmax_a Score_a(x_t)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8006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SRA Dampening Effect: When queue/latency is high (R(x_t) &gt; 0), the penalty -λ·ρ_a·R(x_t) strongly dampens arm 2 (+1.0) and promotes arm 0 (-1.0).</a:t>
            </a:r>
            <a:br/>
            <a:r>
              <a:t>• Testing: 11 / 11 automated unit tests passed verifying ridge math, numerical stability, risk dampening, and UCB confidence bounds.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SAFETY LAYER &amp; DETERMINISTIC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Security Profiling &amp; SLA Guardrail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2926080" cy="27432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D97706"/>
                </a:solidFill>
                <a:latin typeface="Calibri"/>
              </a:defRPr>
            </a:pPr>
            <a:r>
              <a:t>MODULE 05: SECURITY &amp; OVERHEAD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20624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t>• Security State Modeling: </a:t>
            </a:r>
            <a:r>
              <a:rPr sz="950" b="0">
                <a:solidFill>
                  <a:srgbClr val="334155"/>
                </a:solidFill>
                <a:latin typeface="Calibri"/>
              </a:rPr>
              <a:t>Models system security mode (OFF, MEASURED, CONFIGURED) and threat risk score [0.0, 1.0].</a:t>
            </a:r>
          </a:p>
          <a:p>
            <a:pPr>
              <a:spcAft>
                <a:spcPts val="70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t>• Cryptographic Tunnel Overheads: </a:t>
            </a:r>
            <a:r>
              <a:rPr sz="950" b="0">
                <a:solidFill>
                  <a:srgbClr val="334155"/>
                </a:solidFill>
                <a:latin typeface="Calibri"/>
              </a:rPr>
              <a:t>Captures latency inflation (ΔLat), throughput penalty (ΔTput), and loss delta incurred by WireGuard tunnels.</a:t>
            </a:r>
          </a:p>
          <a:p>
            <a:pPr>
              <a:spcAft>
                <a:spcPts val="70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t>• Configured vs. Measured Distinction: </a:t>
            </a:r>
            <a:r>
              <a:rPr sz="950" b="0">
                <a:solidFill>
                  <a:srgbClr val="334155"/>
                </a:solidFill>
                <a:latin typeface="Calibri"/>
              </a:rPr>
              <a:t>Uses calibrated protocol constants when idle, switching seamlessly to live kernel stats when tunnel is active.</a:t>
            </a:r>
          </a:p>
          <a:p>
            <a:pPr>
              <a:spcAft>
                <a:spcPts val="70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t>• WireGuard Adapter Pattern: </a:t>
            </a:r>
            <a:r>
              <a:rPr sz="950" b="0">
                <a:solidFill>
                  <a:srgbClr val="334155"/>
                </a:solidFill>
                <a:latin typeface="Calibri"/>
              </a:rPr>
              <a:t>Graceful fallback adapter inspects live `wg` interfaces while allowing mock simulation in tests.</a:t>
            </a:r>
          </a:p>
          <a:p>
            <a:pPr>
              <a:spcAft>
                <a:spcPts val="70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t>• Testing &amp; Verification: </a:t>
            </a:r>
            <a:r>
              <a:rPr sz="950" b="0">
                <a:solidFill>
                  <a:srgbClr val="334155"/>
                </a:solidFill>
                <a:latin typeface="Calibri"/>
              </a:rPr>
              <a:t>13 / 13 automated unit tests passed validating security configs, overhead metrics, and tunnel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463040"/>
            <a:ext cx="588233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0" y="1645920"/>
            <a:ext cx="3108960" cy="274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16A34A"/>
                </a:solidFill>
                <a:latin typeface="Calibri"/>
              </a:defRPr>
            </a:pPr>
            <a:r>
              <a:t>MODULE 06: DETERMINISTIC SLA GUARDRAIL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057400"/>
            <a:ext cx="548640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Independent Deterministic Safety Barrier (Pre-Actuation Gate)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423160"/>
            <a:ext cx="548640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2468880"/>
            <a:ext cx="521208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19">
                <a:solidFill>
                  <a:srgbClr val="0F172A"/>
                </a:solidFill>
                <a:latin typeface="Consolas"/>
              </a:defRPr>
            </a:pPr>
            <a:r>
              <a:t>Candidate Action a*  (from SRA-LinUCB)  +  Raw Physical Telemetry</a:t>
            </a:r>
            <a:br/>
            <a:r>
              <a:t>        │</a:t>
            </a:r>
            <a:br/>
            <a:r>
              <a:t>        ▼</a:t>
            </a:r>
            <a:br/>
            <a:r>
              <a:t> 1. Latency SLA Check (≤ 15.0 ms)   →   2. Packet Loss Check (≤ 1.0%)</a:t>
            </a:r>
            <a:br/>
            <a:r>
              <a:t>        │</a:t>
            </a:r>
            <a:br/>
            <a:r>
              <a:t>        ▼</a:t>
            </a:r>
            <a:br/>
            <a:r>
              <a:t> 3. Security Risk Gate (≤ 0.70)     →   4. Crypto Delay Gate (≤ 5.0 ms)</a:t>
            </a:r>
            <a:br/>
            <a:r>
              <a:t>        │</a:t>
            </a:r>
            <a:br/>
            <a:r>
              <a:t>        ▼</a:t>
            </a:r>
            <a:br/>
            <a:r>
              <a:t> 5. Capacity Check (Σ BW ≤ 10 Mbps) &amp; URLLC Reservation (≥ 2.0 Mbps)</a:t>
            </a:r>
            <a:br/>
            <a:r>
              <a:t>        │                                   │</a:t>
            </a:r>
            <a:br/>
            <a:r>
              <a:t>   [All Pass]                         [Over-Allocated]</a:t>
            </a:r>
            <a:br/>
            <a:r>
              <a:t>        ▼                                   ▼</a:t>
            </a:r>
            <a:br/>
            <a:r>
              <a:t>     APPROVE                            DETERMINISTIC REPAIR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840480"/>
            <a:ext cx="54864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400"/>
              </a:spcAft>
              <a:defRPr sz="980" b="1">
                <a:solidFill>
                  <a:srgbClr val="0F172A"/>
                </a:solidFill>
                <a:latin typeface="Calibri"/>
              </a:defRPr>
            </a:pPr>
            <a:r>
              <a:t>• Deterministic Repair Mechanism: </a:t>
            </a:r>
            <a:r>
              <a:rPr sz="919" b="0">
                <a:solidFill>
                  <a:srgbClr val="334155"/>
                </a:solidFill>
                <a:latin typeface="Calibri"/>
              </a:rPr>
              <a:t>If candidate bandwidths exceed the 10 Mbps bottleneck link, guardrail clamps allocations proportionally while strictly guaranteeing the 2.0 Mbps minimum URLLC reservation.</a:t>
            </a:r>
          </a:p>
          <a:p>
            <a:pPr>
              <a:spcAft>
                <a:spcPts val="400"/>
              </a:spcAft>
              <a:defRPr sz="980" b="1">
                <a:solidFill>
                  <a:srgbClr val="0F172A"/>
                </a:solidFill>
                <a:latin typeface="Calibri"/>
              </a:defRPr>
            </a:pPr>
            <a:r>
              <a:t>• Strict Unsafe Rejection: </a:t>
            </a:r>
            <a:r>
              <a:rPr sz="919" b="0">
                <a:solidFill>
                  <a:srgbClr val="334155"/>
                </a:solidFill>
                <a:latin typeface="Calibri"/>
              </a:rPr>
              <a:t>If measured latency &gt; 15.0 ms or loss &gt; 1.0%, unsafe expansions are completely blocked (`is_safe=False`).</a:t>
            </a:r>
          </a:p>
          <a:p>
            <a:pPr>
              <a:spcAft>
                <a:spcPts val="400"/>
              </a:spcAft>
              <a:defRPr sz="980" b="1">
                <a:solidFill>
                  <a:srgbClr val="0F172A"/>
                </a:solidFill>
                <a:latin typeface="Calibri"/>
              </a:defRPr>
            </a:pPr>
            <a:r>
              <a:t>• Testing &amp; Verification: </a:t>
            </a:r>
            <a:r>
              <a:rPr sz="919" b="0">
                <a:solidFill>
                  <a:srgbClr val="334155"/>
                </a:solidFill>
                <a:latin typeface="Calibri"/>
              </a:rPr>
              <a:t>14 / 14 automated unit tests passed verifying individual constraint gates, discrete action mappings, and repair math.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SYSTEM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M2 → M3 → M4 → M6 Closed Pipeline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87168" cy="2011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1284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1. Telemetry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Module 02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Active ping inside host namespace</a:t>
            </a:r>
            <a:br/>
            <a:r>
              <a:t>/sys byte counts &amp; tc queue stats</a:t>
            </a:r>
            <a:br/>
            <a:r>
              <a:t>Emits raw TelemetryRecord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87168" cy="20116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00200"/>
            <a:ext cx="221284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7C3AED"/>
                </a:solidFill>
                <a:latin typeface="Calibri"/>
              </a:defRPr>
            </a:pPr>
            <a:r>
              <a:t>2. Context Builder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Module 03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Extracts 6D normalized vector x_t</a:t>
            </a:r>
            <a:br/>
            <a:r>
              <a:t>Temporal latency trend velocity</a:t>
            </a:r>
            <a:br/>
            <a:r>
              <a:t>Sanitizes -1.0 ms probe sentinels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87168" cy="2011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221284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3. SRA-LinUCB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Module 04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Evaluates contextual bandit scores</a:t>
            </a:r>
            <a:br/>
            <a:r>
              <a:t>Risk dampening: Score_a - λρ_aR(x)</a:t>
            </a:r>
            <a:br/>
            <a:r>
              <a:t>Emits Candidate Action a*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87168" cy="20116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600200"/>
            <a:ext cx="221284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Calibri"/>
              </a:defRPr>
            </a:pPr>
            <a:r>
              <a:t>4. SLA Guardrail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Module 06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Deterministic safety validation</a:t>
            </a:r>
            <a:br/>
            <a:r>
              <a:t>Receives raw physical telemetry</a:t>
            </a:r>
            <a:br/>
            <a:r>
              <a:t>Approves, Rejects, or Repairs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4408" y="2331720"/>
            <a:ext cx="164592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7608" y="2331720"/>
            <a:ext cx="164592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50808" y="2331720"/>
            <a:ext cx="164592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1072865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4206240" cy="274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2563EB"/>
                </a:solidFill>
                <a:latin typeface="Calibri"/>
              </a:defRPr>
            </a:pPr>
            <a:r>
              <a:t>CRITICAL ARCHITECTURAL PRINCIPLE: DUAL DATA-STREAM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36289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400"/>
              </a:spcAft>
              <a:defRPr sz="1019" b="1">
                <a:solidFill>
                  <a:srgbClr val="0F172A"/>
                </a:solidFill>
                <a:latin typeface="Calibri"/>
              </a:defRPr>
            </a:pPr>
            <a:r>
              <a:t>• Normalized vs. Raw Separation: </a:t>
            </a:r>
            <a:r>
              <a:rPr sz="950" b="0">
                <a:solidFill>
                  <a:srgbClr val="334155"/>
                </a:solidFill>
                <a:latin typeface="Calibri"/>
              </a:rPr>
              <a:t>M3 &amp; M4 consume the normalized 6D context vector x_t in R^6 for mathematically stable machine learning inference. In contrast, Module 06 receives raw physical telemetry (actual milliseconds, actual Mbps, actual packet drops) for deterministic physical verification.</a:t>
            </a:r>
          </a:p>
          <a:p>
            <a:pPr>
              <a:spcAft>
                <a:spcPts val="400"/>
              </a:spcAft>
              <a:defRPr sz="1019" b="1">
                <a:solidFill>
                  <a:srgbClr val="0F172A"/>
                </a:solidFill>
                <a:latin typeface="Calibri"/>
              </a:defRPr>
            </a:pPr>
            <a:r>
              <a:t>• No AI Hallucination Bypass: </a:t>
            </a:r>
            <a:r>
              <a:rPr sz="950" b="0">
                <a:solidFill>
                  <a:srgbClr val="334155"/>
                </a:solidFill>
                <a:latin typeface="Calibri"/>
              </a:rPr>
              <a:t>Candidate allocations from SRA-LinUCB NEVER reach the network directly. The guardrail serves as a zero-trust gate.</a:t>
            </a:r>
          </a:p>
          <a:p>
            <a:pPr>
              <a:spcAft>
                <a:spcPts val="400"/>
              </a:spcAft>
              <a:defRPr sz="1019" b="1">
                <a:solidFill>
                  <a:srgbClr val="0F172A"/>
                </a:solidFill>
                <a:latin typeface="Calibri"/>
              </a:defRPr>
            </a:pPr>
            <a:r>
              <a:t>• Security Context Coupling (Module 05): </a:t>
            </a:r>
            <a:r>
              <a:rPr sz="950" b="0">
                <a:solidFill>
                  <a:srgbClr val="334155"/>
                </a:solidFill>
                <a:latin typeface="Calibri"/>
              </a:rPr>
              <a:t>Guardrail simultaneously inspects live crypto overheads and threat risk levels from Module 05, ensuring security operations never violate the latency SLA budget.</a:t>
            </a:r>
          </a:p>
          <a:p>
            <a:pPr>
              <a:spcAft>
                <a:spcPts val="400"/>
              </a:spcAft>
              <a:defRPr sz="1019" b="1">
                <a:solidFill>
                  <a:srgbClr val="0F172A"/>
                </a:solidFill>
                <a:latin typeface="Calibri"/>
              </a:defRPr>
            </a:pPr>
            <a:r>
              <a:t>• Verified Integration Testing: </a:t>
            </a:r>
            <a:r>
              <a:rPr sz="950" b="0">
                <a:solidFill>
                  <a:srgbClr val="334155"/>
                </a:solidFill>
                <a:latin typeface="Calibri"/>
              </a:rPr>
              <a:t>Cross-module data flow verified by 6 tests in `ai/test_integration.py` (M2→M3→M4) and 7 tests in `tests/test_pipeline_guardrail.py` (M2→M3→M4→M6).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VERIFICATION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Test Suite Execution: 83 / 83 Tests Passed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6035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80160"/>
                <a:gridCol w="1463040"/>
              </a:tblGrid>
              <a:tr h="4978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 / Integration Suite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Module 02: Network Telemetry Collector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Module 03: 6D Context Builder &amp; Scaling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Module 04: SRA-LinUCB Decision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M2 → M3 → M4 Pipeline Integration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Module 05: Security State &amp; Overheads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Module 06: Deterministic SLA Guardrail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M2 → M3 → M4 → M6 Closed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TOTAL AUTOMATED TEST SUITE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100% PASSED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040880" y="1463040"/>
            <a:ext cx="4419295" cy="12801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600200"/>
            <a:ext cx="405353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Calibri"/>
              </a:defRPr>
            </a:pPr>
            <a:r>
              <a:t>100% TEST PASS RATE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83 / 83 Verified Tests Passing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Execution Time: 0.92s across all unit &amp; integration test suites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926080"/>
            <a:ext cx="4419295" cy="30175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2926080"/>
            <a:ext cx="44192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971800"/>
            <a:ext cx="405353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● ● ●  Terminal: pytest -q verification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3337560"/>
            <a:ext cx="3962095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34D399"/>
                </a:solidFill>
                <a:latin typeface="Consolas"/>
              </a:defRPr>
            </a:pPr>
            <a:r>
              <a:t>$ pytest -q</a:t>
            </a:r>
            <a:br/>
            <a:r>
              <a:t>.................................................... [ 62%]</a:t>
            </a:r>
            <a:br/>
            <a:r>
              <a:t>...................................                  [100%]</a:t>
            </a:r>
            <a:br/>
            <a:r>
              <a:t>83 passed in 0.92s</a:t>
            </a:r>
            <a:br/>
            <a:br/>
            <a:r>
              <a:t>----------------------------------------------------</a:t>
            </a:r>
            <a:br/>
            <a:r>
              <a:t>[INSERT TERMINAL SCREENSHOT: pytest -q → 83 passed]</a:t>
            </a:r>
            <a:br/>
            <a:r>
              <a:t>Evidence verifies 100% automated test pass rate</a:t>
            </a:r>
            <a:br/>
            <a:r>
              <a:t>covering mathematics, edge states, and pipeline 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VALIDATION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End-to-End Guardrail Safety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0058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93776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  <a:latin typeface="Calibri"/>
              </a:defRPr>
            </a:pPr>
            <a:r>
              <a:t>Scenario 1: Healthy Network  [APPROVED]</a:t>
            </a:r>
          </a:p>
          <a:p>
            <a:pPr>
              <a:defRPr sz="919">
                <a:solidFill>
                  <a:srgbClr val="334155"/>
                </a:solidFill>
                <a:latin typeface="Calibri"/>
              </a:defRPr>
            </a:pPr>
            <a:r>
              <a:t>Measured latency: 10.2 ms, Loss: 0.0%, normal queue depth.</a:t>
            </a:r>
            <a:br/>
            <a:r>
              <a:t>Guardrail validates safe state → Candidate action APPROVED.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78608"/>
            <a:ext cx="5212080" cy="10058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88336"/>
            <a:ext cx="493776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C2626"/>
                </a:solidFill>
                <a:latin typeface="Calibri"/>
              </a:defRPr>
            </a:pPr>
            <a:r>
              <a:t>Scenario 2: Latency SLA Breach  [REJECTED]</a:t>
            </a:r>
          </a:p>
          <a:p>
            <a:pPr>
              <a:defRPr sz="919">
                <a:solidFill>
                  <a:srgbClr val="334155"/>
                </a:solidFill>
                <a:latin typeface="Calibri"/>
              </a:defRPr>
            </a:pPr>
            <a:r>
              <a:t>Measured URLLC latency: 18.5 ms (&gt; 15.0 ms SLA threshold).</a:t>
            </a:r>
            <a:br/>
            <a:r>
              <a:t>Unsafe allocation immediately REJECTED (`LATENCY_VIOLATION`).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94176"/>
            <a:ext cx="5212080" cy="10058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03904"/>
            <a:ext cx="493776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C2626"/>
                </a:solidFill>
                <a:latin typeface="Calibri"/>
              </a:defRPr>
            </a:pPr>
            <a:r>
              <a:t>Scenario 3: Packet Loss Breach  [REJECTED]</a:t>
            </a:r>
          </a:p>
          <a:p>
            <a:pPr>
              <a:defRPr sz="919">
                <a:solidFill>
                  <a:srgbClr val="334155"/>
                </a:solidFill>
                <a:latin typeface="Calibri"/>
              </a:defRPr>
            </a:pPr>
            <a:r>
              <a:t>Measured packet loss: 2.5% (&gt; 1.0% hard loss threshold).</a:t>
            </a:r>
            <a:br/>
            <a:r>
              <a:t>Unsafe expansion blocked (`PACKET_LOSS_VIOLATION`).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09744"/>
            <a:ext cx="5212080" cy="10058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19472"/>
            <a:ext cx="493776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C2626"/>
                </a:solidFill>
                <a:latin typeface="Calibri"/>
              </a:defRPr>
            </a:pPr>
            <a:r>
              <a:t>Scenario 4: Severe Congestion  [BLOCKED]</a:t>
            </a:r>
          </a:p>
          <a:p>
            <a:pPr>
              <a:defRPr sz="919">
                <a:solidFill>
                  <a:srgbClr val="334155"/>
                </a:solidFill>
                <a:latin typeface="Calibri"/>
              </a:defRPr>
            </a:pPr>
            <a:r>
              <a:t>Queue backlog &gt; 45 pkts; SRA risk penalty suppresses arm 2.</a:t>
            </a:r>
            <a:br/>
            <a:r>
              <a:t>Guardrail blocks dangerous eMBB expansion attempt.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10058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72768"/>
            <a:ext cx="493776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97706"/>
                </a:solidFill>
                <a:latin typeface="Calibri"/>
              </a:defRPr>
            </a:pPr>
            <a:r>
              <a:t>Scenario 5: Over-Allocation Repair  [REPAIRED]</a:t>
            </a:r>
          </a:p>
          <a:p>
            <a:pPr>
              <a:defRPr sz="919">
                <a:solidFill>
                  <a:srgbClr val="334155"/>
                </a:solidFill>
                <a:latin typeface="Calibri"/>
              </a:defRPr>
            </a:pPr>
            <a:r>
              <a:t>Candidate BW: 12.5 Mbps (&gt; 10.0 Mbps bottleneck limit).</a:t>
            </a:r>
            <a:br/>
            <a:r>
              <a:t>Guardrail deterministically repairs to 10 Mbps; locks URLLC ≥ 2 Mbps.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78608"/>
            <a:ext cx="5212080" cy="10058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688336"/>
            <a:ext cx="493776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C2626"/>
                </a:solidFill>
                <a:latin typeface="Calibri"/>
              </a:defRPr>
            </a:pPr>
            <a:r>
              <a:t>Scenario 6: High Security Threat  [BLOCKED]</a:t>
            </a:r>
          </a:p>
          <a:p>
            <a:pPr>
              <a:defRPr sz="919">
                <a:solidFill>
                  <a:srgbClr val="334155"/>
                </a:solidFill>
                <a:latin typeface="Calibri"/>
              </a:defRPr>
            </a:pPr>
            <a:r>
              <a:t>Security overhead &gt; 5.0 ms or threat risk level &gt; 0.70.</a:t>
            </a:r>
            <a:br/>
            <a:r>
              <a:t>Blocked by guardrail to preserve latency SLA budget.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94176"/>
            <a:ext cx="5212080" cy="10058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803904"/>
            <a:ext cx="493776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Scenario 7: Exact Boundary Conditions  [VALIDATED]</a:t>
            </a:r>
          </a:p>
          <a:p>
            <a:pPr>
              <a:defRPr sz="919">
                <a:solidFill>
                  <a:srgbClr val="334155"/>
                </a:solidFill>
                <a:latin typeface="Calibri"/>
              </a:defRPr>
            </a:pPr>
            <a:r>
              <a:t>Exact equality limits tested (latency = 15.0 ms, loss = 1.0%).</a:t>
            </a:r>
            <a:br/>
            <a:r>
              <a:t>Verified deterministic mathematical boundary consistency.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809744"/>
            <a:ext cx="5212080" cy="10058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919472"/>
            <a:ext cx="493776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A34A"/>
                </a:solidFill>
                <a:latin typeface="Calibri"/>
              </a:defRPr>
            </a:pPr>
            <a:r>
              <a:t>Automated Integration Validation (tests/test_pipeline_guardrail.py)</a:t>
            </a:r>
          </a:p>
          <a:p>
            <a:pPr>
              <a:defRPr sz="919">
                <a:solidFill>
                  <a:srgbClr val="334155"/>
                </a:solidFill>
                <a:latin typeface="Calibri"/>
              </a:defRPr>
            </a:pPr>
            <a:r>
              <a:t>All 7 integration test scenarios pass with 100% reproducibility, proving deterministic safety enforcement across normal, overloaded, and boundary conditions.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RISK &amp;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Key Challenges Encountered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  <a:latin typeface="Calibri"/>
              </a:defRPr>
            </a:pPr>
            <a:r>
              <a:t>Challenge 1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Unsafe AI Exploration &amp; Policy Hallucination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Standard contextual bandits explore aggressively in early phases. Proposing reckless eMBB expansions during high traffic induces severe bufferbloat and violates mission-critical URLLC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4846320" cy="2103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4480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6A34A"/>
                </a:solidFill>
                <a:latin typeface="Calibri"/>
              </a:defRPr>
            </a:pPr>
            <a:r>
              <a:t>✔ Solution Implemented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1. Decoupled optimization from safety by implementing Module 06 Deterministic Guardrail as a zero-trust pre-actuation gate.</a:t>
            </a:r>
            <a:br/>
            <a:r>
              <a:t>2. Formulated Security- and Risk-Aware (SRA) penalty λ·ρ_a·R(x_t) inside LinUCB to suppress reckless expansions.</a:t>
            </a:r>
            <a:br/>
            <a:r>
              <a:t>3. Added deterministic bandwidth repair to clamp over-allocations while locking URLLC &gt;= 2.0 Mbps.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  <a:latin typeface="Calibri"/>
              </a:defRPr>
            </a:pPr>
            <a:r>
              <a:t>Challenge 2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Telemetry Noise &amp; Sentinel Discontinuities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Transient probe drops produce -1.0 ms sentinels, and physical metrics (0–120 ms latency, 0–50 pkts queue, 0–10 Mbps throughput) have vastly different numeric scales, causing instability in matrix inversion.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474720"/>
            <a:ext cx="4846320" cy="2103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611880"/>
            <a:ext cx="4480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6A34A"/>
                </a:solidFill>
                <a:latin typeface="Calibri"/>
              </a:defRPr>
            </a:pPr>
            <a:r>
              <a:t>✔ Solution Implemented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1. Implemented defensive sentinel sanitization in Module 03, mapping dropped probes safely to worst-case latency feature x_1 = 1.0.</a:t>
            </a:r>
            <a:br/>
            <a:r>
              <a:t>2. Scaled all inputs to a bounded [0.0, 1.0] 6D context vector with clipped temporal trend velocity x_4 in [-1.0, 1.0].</a:t>
            </a:r>
            <a:br/>
            <a:r>
              <a:t>3. Replaced direct matrix inversion with numerically stable `np.linalg.solve(A_a, b_a)` ridge solver.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Review-3 Target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7830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627632"/>
            <a:ext cx="935705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Module 07: Ryu SDN Controller Dynamic Actuation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Connect guardrail-approved safe actions directly to Open vSwitch via OpenFlow 1.3.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Implement dynamic rate limiting using OpenFlow 1.3 Meter Bands (`OFPMeterMod`) per slice flow.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Fallback to dynamic Linux HTB queues via `ovs-vsctl` and `tc` for hitless bandwidth reallocation without interrupting active TCP streams.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329184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36392"/>
            <a:ext cx="935705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Module 08: Closed-Loop Reward Engine &amp; Online Feedback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Implement multi-objective scalar reward: r_t = w_tput·Tput_norm - w_lat·Lat_norm - w_loss·Loss_norm - SLA_Penalty.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Enforce non-linear quadratic barrier penalty: SLA_Penalty(t) = β · (max(0, Latency_ms - 15.0))².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Close online learning loop: Telemetry(t+1) → Compute r_t → `SRALinUCB.update(a_t, x_t, r_t)`.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48006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645152"/>
            <a:ext cx="935705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Module 09: Comparative Evaluation &amp; Live Dashboard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Execute rigorous comparative benchmarks: Static Slicing vs. Unsafe AI Slicing vs. Proposed AI-Safe Dynamic Slicing.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Quantify SLA violation ratio, p99 latency distributions, cumulative regret, and guardrail intervention counts.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Build real-time Streamlit dashboard (`dashboard/app.py`) displaying latency charts, 6D radar context, and guardrail safety badges.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ACADEMIC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Key References &amp; RFC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1027145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Calibri"/>
              </a:defRPr>
            </a:pPr>
            <a:r>
              <a:t>[1] Li, L., Chu, W., Langford, J., &amp; Schapire, R. E.</a:t>
            </a:r>
          </a:p>
          <a:p>
            <a:pPr>
              <a:defRPr sz="1000" i="1">
                <a:solidFill>
                  <a:srgbClr val="0F172A"/>
                </a:solidFill>
                <a:latin typeface="Calibri"/>
              </a:defRPr>
            </a:pPr>
            <a:r>
              <a:t>"A Contextual-Bandit Approach to Personalized News Headline Recommendation."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Proceedings of the 19th International Conference on World Wide Web (WWW), pp. 661–670, 2010.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Relevance: Foundational theoretical basis for the Linear Upper Confidence Bound (LinUCB) contextual bandit algorithm.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7180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36392"/>
            <a:ext cx="1027145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Calibri"/>
              </a:defRPr>
            </a:pPr>
            <a:r>
              <a:t>[2] 3GPP Technical Specification Group Services and System Aspects</a:t>
            </a:r>
          </a:p>
          <a:p>
            <a:pPr>
              <a:defRPr sz="1000" i="1">
                <a:solidFill>
                  <a:srgbClr val="0F172A"/>
                </a:solidFill>
                <a:latin typeface="Calibri"/>
              </a:defRPr>
            </a:pPr>
            <a:r>
              <a:t>"System Architecture for the 5G System (5GS); Stage 2 (Release 17)."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3GPP TS 23.501 V17.4.0, Sophia Antipolis, France, 2022.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Relevance: Defines standards for network slicing, slice isolation, URLLC latency bounds, and eMBB quality-of-service profiles.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48056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45152"/>
            <a:ext cx="1027145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Calibri"/>
              </a:defRPr>
            </a:pPr>
            <a:r>
              <a:t>[3] McKeown, N., Anderson, T., Balakrishnan, H., et al.</a:t>
            </a:r>
          </a:p>
          <a:p>
            <a:pPr>
              <a:defRPr sz="1000" i="1">
                <a:solidFill>
                  <a:srgbClr val="0F172A"/>
                </a:solidFill>
                <a:latin typeface="Calibri"/>
              </a:defRPr>
            </a:pPr>
            <a:r>
              <a:t>"OpenFlow: Enabling Innovation in Campus Networks."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ACM SIGCOMM Computer Communication Review, vol. 38, no. 2, pp. 69–74, 2008.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Relevance: Core SDN architecture, flow abstraction, OpenFlow meter bands, and controller-switch communication interface.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38190" y="2011680"/>
            <a:ext cx="9144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926080"/>
            <a:ext cx="889985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spcAft>
                <a:spcPts val="2400"/>
              </a:spcAft>
              <a:defRPr sz="1700">
                <a:solidFill>
                  <a:srgbClr val="94A3B8"/>
                </a:solidFill>
                <a:latin typeface="Calibri"/>
              </a:defRPr>
            </a:pPr>
            <a:r>
              <a:t>Questions &amp; Reviewer Suggestions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6590" y="4754880"/>
            <a:ext cx="36576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CSE3002 • Review-2 Evaluation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